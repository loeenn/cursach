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554480"/>
            <a:ext cx="1115568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ru-RU" sz="3600" b="1">
                <a:solidFill>
                  <a:srgbClr val="1B5AB8"/>
                </a:solidFill>
                <a:latin typeface="Inter Medium"/>
              </a:rPr>
              <a:t>Разработка организационно-технологической модели бесшовного обслуживания пассажиров на вокзальных комплексах и в поездах ВСМ</a:t>
            </a:r>
            <a:endParaRPr lang="ru-RU" sz="3600" b="1" dirty="0">
              <a:solidFill>
                <a:srgbClr val="1B5AB8"/>
              </a:solidFill>
              <a:latin typeface="Inter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97763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64A"/>
                </a:solidFill>
                <a:latin typeface="Inter Medium"/>
              </a:rPr>
              <a:t>Ануфриев Семён | ПИН-171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64A"/>
                </a:solidFill>
                <a:latin typeface="Inter Medium"/>
              </a:rPr>
              <a:t>Левашвили Даниэль | ПУИ-171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74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 · ОБЛАСТЬ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ВСМ Москва — Санкт-Петербург: новый уровень сервиса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B5AB8"/>
                </a:solidFill>
                <a:latin typeface="Raleway"/>
              </a:rPr>
              <a:t>2028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запуск пассажирского движения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B5AB8"/>
                </a:solidFill>
                <a:latin typeface="Raleway"/>
              </a:rPr>
              <a:t>≈ 23 млн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пассажиров в год — прогноз к 2030 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B5AB8"/>
                </a:solidFill>
                <a:latin typeface="Raleway"/>
              </a:rPr>
              <a:t>2 ч 15 мин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время в пути между столицами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1704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B5AB8"/>
                </a:solidFill>
                <a:latin typeface="Raleway"/>
              </a:rPr>
              <a:t>360 км/ч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эксплуатационная скорость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3639312" cy="15544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2864"/>
                </a:solidFill>
                <a:latin typeface="Inter Medium"/>
              </a:rPr>
              <a:t>Рост потока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переход от «Сапсана» к массовому высокоскоростному направлению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154680"/>
            <a:ext cx="3639312" cy="15544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2864"/>
                </a:solidFill>
                <a:latin typeface="Inter Medium"/>
              </a:rPr>
              <a:t>Короткое время в пути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выше роль первой и последней мили, пересадок и допуслуг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3154680"/>
            <a:ext cx="3639312" cy="15544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2864"/>
                </a:solidFill>
                <a:latin typeface="Inter Medium"/>
              </a:rPr>
              <a:t>Сервисная экономика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ценность поездки формируют билет, допуслуги и связанный маршрут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 Medium"/>
              </a:rPr>
              <a:t>Фокус команды: сервисный путь пассажира — данные, профиль, сегменты и сервисные действия на всех этапах поездки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2 ·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Клиентские данные фрагментированы между системами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Билетная система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поездка, место, тариф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463040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Лояльность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баллы, уровни, история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1463040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CRM / обращения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контакты, жалобы, запросы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61488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Бортовой сервис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заказы, доступность услуг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761488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Приложение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уведомления, сервисы в пути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2761488"/>
            <a:ext cx="363931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Внешние сервисы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парковка, такси, транспорт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5196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Каждая система видит «своего» пассажира. Один человек = несколько несвязанных записей → персонализация невозможна, </a:t>
            </a:r>
            <a:r>
              <a:rPr sz="1250" b="1">
                <a:solidFill>
                  <a:srgbClr val="002864"/>
                </a:solidFill>
                <a:latin typeface="Inter"/>
              </a:rPr>
              <a:t>РЖД Бонус покрывает только билетный контур одного оператора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 Medium"/>
              </a:rPr>
              <a:t>Разрыв возникает между этапом поездки, сервисными правами и историей действий пассажира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3 · КОНЦЕПТЫ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Единый контур: от данных пассажира к сервисному действию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21579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5AB8"/>
                </a:solidFill>
                <a:latin typeface="Inter Medium"/>
              </a:rPr>
              <a:t>Источники данных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билеты · лояльность · CRM · борт · смежная мобильность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7752" y="25420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91640"/>
            <a:ext cx="21579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5AB8"/>
                </a:solidFill>
                <a:latin typeface="Inter Medium"/>
              </a:rPr>
              <a:t>Унифицированный профиль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связывание по правилам, согласия 152‑ФЗ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5420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2936" y="1691640"/>
            <a:ext cx="21579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5AB8"/>
                </a:solidFill>
                <a:latin typeface="Inter Medium"/>
              </a:rPr>
              <a:t>Многомерная сегментация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RFM · поведение · мобильность · ценность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5420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8664" y="1691640"/>
            <a:ext cx="21579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5AB8"/>
                </a:solidFill>
                <a:latin typeface="Inter Medium"/>
              </a:rPr>
              <a:t>Цифровой ID и правила сервиса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этап поездки · права · классы действий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4936" y="25420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94392" y="1691640"/>
            <a:ext cx="215798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5AB8"/>
                </a:solidFill>
                <a:latin typeface="Inter Medium"/>
              </a:rPr>
              <a:t>Персональный сервис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одно релевантное действие на нужном этапе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B364A"/>
                </a:solidFill>
                <a:latin typeface="Inter"/>
              </a:rPr>
              <a:t>Профиль и сегменты отвечают на вопрос «кто пассажир и что ему ценно», цифровой ID и правила — «что и когда ему предложить».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864"/>
                </a:solidFill>
                <a:latin typeface="Inter Medium"/>
              </a:rPr>
              <a:t>Приоритет работы: сначала инженерное ядро — архитектура профиля и связывание, затем рекомендательная надстройка — сегменты и стратегии.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 Medium"/>
              </a:rPr>
              <a:t>Результат: бесшовный путь пассажира «дверь — дверь» с сервисом, который знает контекст поездки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4 · ИССЛЕДОВАТЕЛЬСКАЯ РАМКА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Исследовательский вопрос и гипотезы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83112" cy="114300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5DBFF"/>
                </a:solidFill>
                <a:latin typeface="Inter Medium"/>
              </a:rPr>
              <a:t>RQ:  </a:t>
            </a:r>
            <a:r>
              <a:rPr sz="1600" b="1">
                <a:solidFill>
                  <a:srgbClr val="FFFFFF"/>
                </a:solidFill>
                <a:latin typeface="Inter Medium"/>
              </a:rPr>
              <a:t>Даёт ли ось мультимодальной мобильности более различимые и практически применимые сегменты пассажиров ВСМ, чем классический RFM-профиль?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34640"/>
            <a:ext cx="363931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447BB"/>
                </a:solidFill>
                <a:latin typeface="Inter Medium"/>
              </a:rPr>
              <a:t>Гипотеза H1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Сегментация «RFM + мобильность» превосходит RFM-only по различимости (silhouette, Davies–Bouldin) и устойчивости (bootstrap-ARI) сегментов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834640"/>
            <a:ext cx="363931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447BB"/>
                </a:solidFill>
                <a:latin typeface="Inter Medium"/>
              </a:rPr>
              <a:t>Гипотеза H2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Детерминированное связывание по подтверждённым ключам (Госуслуги/ЕБС, телефон, билет) достаточно для сборки профиля — без обучаемых моделей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2834640"/>
            <a:ext cx="363931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4447BB"/>
                </a:solidFill>
                <a:latin typeface="Inter Medium"/>
              </a:rPr>
              <a:t>Гипотеза H3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Сегменты с осью мобильности порождают сервисные стратегии, невыводимые из RFM-only (первая/последняя миля, пересадки)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2864"/>
                </a:solidFill>
                <a:latin typeface="Inter Medium"/>
              </a:rPr>
              <a:t>Критерий успеха: </a:t>
            </a:r>
            <a:r>
              <a:rPr sz="1300" b="0">
                <a:solidFill>
                  <a:srgbClr val="2B364A"/>
                </a:solidFill>
                <a:latin typeface="Inter"/>
              </a:rPr>
              <a:t>прирост метрик различимости и устойчивости относительно бейзлайна + интерпретируемость сегментов (профили читаются экспертом) + применимость (для каждого сегмента существует отличающаяся сервисная стратегия)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5 · ОБЗОР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Три исследовательских традиции — и пробел между ними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393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Лояльность и ценность (RFM/LTV)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RFM-ранжирование и кластеризация клиентов — J. King Saud Univ.–CIS, 2021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Динамическая сегментация LRFMS — Scientific Reports, 2024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4447BB"/>
                </a:solidFill>
                <a:latin typeface="Inter Medium"/>
              </a:rPr>
              <a:t>Ограничение: </a:t>
            </a:r>
            <a:r>
              <a:rPr sz="1050" b="0">
                <a:solidFill>
                  <a:srgbClr val="2B364A"/>
                </a:solidFill>
                <a:latin typeface="Inter"/>
              </a:rPr>
              <a:t>Ценность клиента есть, но один оператор и нет мобильности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463040"/>
            <a:ext cx="36393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Сегментация по smart-card данным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Passenger Segmentation Using Smart Card Data — IEEE T-ITS, 2015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Лонгитюдная кластеризация k-means — Int. J. ITS Research, 2020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Сегментация пассажиров ВСМ и каналов продаж — Transp. Res. Part A, 2014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4447BB"/>
                </a:solidFill>
                <a:latin typeface="Inter Medium"/>
              </a:rPr>
              <a:t>Ограничение: </a:t>
            </a:r>
            <a:r>
              <a:rPr sz="1050" b="0">
                <a:solidFill>
                  <a:srgbClr val="2B364A"/>
                </a:solidFill>
                <a:latin typeface="Inter"/>
              </a:rPr>
              <a:t>Поведение в сети есть, но нет транзакционной ценности и допуслуг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1463040"/>
            <a:ext cx="36393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Персонализация в MaaS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MaaS и операторы ВСМ — Sustainability, 2023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Мультимодальные рекомендации маршрутов — PVLDB, 2021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•  Персонализация в системах информирования — ACM Comp. Surveys, 2025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4447BB"/>
                </a:solidFill>
                <a:latin typeface="Inter Medium"/>
              </a:rPr>
              <a:t>Ограничение: </a:t>
            </a:r>
            <a:r>
              <a:rPr sz="1050" b="0">
                <a:solidFill>
                  <a:srgbClr val="2B364A"/>
                </a:solidFill>
                <a:latin typeface="Inter"/>
              </a:rPr>
              <a:t>Рекомендации есть, но нет унифицированного профиля между операторами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54880"/>
            <a:ext cx="11183112" cy="132588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C5DBFF"/>
                </a:solidFill>
                <a:latin typeface="Inter Medium"/>
              </a:rPr>
              <a:t>Пробел: </a:t>
            </a:r>
            <a:r>
              <a:rPr sz="1450" b="1">
                <a:solidFill>
                  <a:srgbClr val="FFFFFF"/>
                </a:solidFill>
                <a:latin typeface="Inter Medium"/>
              </a:rPr>
              <a:t>отсутствует модель, объединяющая транзакционную ценность, поведение и мультимодальную мобильность в едином профиле пассажира высокоскоростной магистрали — и проверка того, что такая ось улучшает сегментацию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6 · МИРОВОЙ ОПЫТ · БЕНЧМАРК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5AB8"/>
                </a:solidFill>
                <a:latin typeface="Raleway"/>
              </a:rPr>
              <a:t>Лучшие мировые практики MaaS и персонализации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Ориентир — мировые лидеры персонализированного транспорта. </a:t>
            </a:r>
            <a:r>
              <a:rPr sz="1250" b="0">
                <a:solidFill>
                  <a:srgbClr val="2B364A"/>
                </a:solidFill>
                <a:latin typeface="Inter"/>
              </a:rPr>
              <a:t>В Китае MaaS вышел на национальный масштаб: суперприложения, интермодальность «в один заказ», единый профиль как ядро персонализации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China Railway 12306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Крупнейшая в мире система продажи билетов. Air-rail «空铁联运»: единый заказ и одна оплата на поезд + самолёт; интеграция Air China, China Eastern, China Southern — 78 хабов, 2000+ маршрутов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5146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Beijing MaaS (Amap + Baidu)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Первый общегородской MaaS Китая: единое планирование и оплата всех видов транспорта + углеродные стимулы за «зелёные» поездки. 30 млн пользователей; кейс признан ООН лучшей практикой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5146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SNCF Connect (Франция)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Консолидация 20+ млн пользователей и каталога данных; генеративный AI для персонализации маршрута и сервиса в едином приложении «дверь — дверь»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25146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Renfe / Trainline (ЕС)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AI-ранжирование и персонализация выдачи маршрутов: +10–15% к конверсии «поиск → покупка». Открытый стандарт обмена данными — OSDM (UIC)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9496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C5DBFF"/>
                </a:solidFill>
                <a:latin typeface="Inter Medium"/>
              </a:rPr>
              <a:t>Вывод для ВСМ: </a:t>
            </a:r>
            <a:r>
              <a:rPr sz="1250" b="1">
                <a:solidFill>
                  <a:srgbClr val="FFFFFF"/>
                </a:solidFill>
                <a:latin typeface="Inter Medium"/>
              </a:rPr>
              <a:t>account-based вход + интермодальный «единый заказ» + персонализация на базе профиля + поведенческие стимулы (уровни 3–4 MaaS по Sochor)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7 · АРХИТЕКТУРА ПРОФИЛЯ · ИНЖЕНЕРНОЕ ЯДРО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B5AB8"/>
                </a:solidFill>
                <a:latin typeface="Raleway"/>
              </a:rPr>
              <a:t>Архитектура профиля: модель данных (UML)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377440" cy="29260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КлючИдентификации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09928"/>
            <a:ext cx="2377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тип: {Госуслуги, ЕБС,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  телефон, email, билет}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значение (хэш)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подтверждён: да/нет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417320"/>
            <a:ext cx="2286000" cy="292608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Пассажир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709928"/>
            <a:ext cx="22860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id_пассажира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ФИО (маскир.)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документ (хэш)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статус_верификации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2286000" cy="292608"/>
          </a:xfrm>
          <a:prstGeom prst="rect">
            <a:avLst/>
          </a:prstGeom>
          <a:solidFill>
            <a:srgbClr val="2CA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Согласие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709928"/>
            <a:ext cx="22860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цель_обработки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дата, статус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источник (152-ФЗ)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417320"/>
            <a:ext cx="2377440" cy="29260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Сегмент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709928"/>
            <a:ext cx="23774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ось (RFM/повед./моб./LTV)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метка сегмента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метод, версия модели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3429000"/>
            <a:ext cx="3657600" cy="292608"/>
          </a:xfrm>
          <a:prstGeom prst="rect">
            <a:avLst/>
          </a:prstGeom>
          <a:solidFill>
            <a:srgbClr val="002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УнифицированныйПрофиль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721608"/>
            <a:ext cx="3657600" cy="1033271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RFM-оценки (R, F, M)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LTV-оценка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активные_сегменты [ ]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дата_обновления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74920"/>
            <a:ext cx="2651760" cy="292608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Поездка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67528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маршрут, дата, класс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тариф, канал покупки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5074920"/>
            <a:ext cx="2651760" cy="292608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ЗаказУслуги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367528"/>
            <a:ext cx="26517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тип услуги, статус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реакция: принял/отказ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5074920"/>
            <a:ext cx="2926080" cy="292608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" rIns="73152" bIns="9144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 Medium"/>
              </a:rPr>
              <a:t>СобытиеМобильности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5367528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вид транспорта, точка, время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B364A"/>
                </a:solidFill>
                <a:latin typeface="Inter"/>
              </a:rPr>
              <a:t>связь с поездкой ВСМ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880360" y="2103120"/>
            <a:ext cx="640080" cy="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26080" y="184708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1..*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2103120"/>
            <a:ext cx="640080" cy="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97880" y="184708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1..*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63440" y="2788920"/>
            <a:ext cx="0" cy="64008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0" y="30175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 → 0..1 (при согласии)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178040" y="2788920"/>
            <a:ext cx="3291840" cy="128016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64040" y="281635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* — *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828800" y="4754880"/>
            <a:ext cx="2377440" cy="32004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06040" y="468172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1..*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983480" y="4754880"/>
            <a:ext cx="365760" cy="32004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1..*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4754880"/>
            <a:ext cx="1874520" cy="320040"/>
          </a:xfrm>
          <a:prstGeom prst="line">
            <a:avLst/>
          </a:prstGeom>
          <a:ln w="15240">
            <a:solidFill>
              <a:srgbClr val="5B6B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79" y="4754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85"/>
                </a:solidFill>
                <a:latin typeface="Inter"/>
              </a:rPr>
              <a:t>1..*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365760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2864"/>
                </a:solidFill>
                <a:latin typeface="Inter Medium"/>
              </a:rPr>
              <a:t>связывание —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2B364A"/>
                </a:solidFill>
                <a:latin typeface="Inter"/>
              </a:rPr>
              <a:t>правила, не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8 · СВЯЗЫВАНИЕ И ПРИВАТНОСТЬ · ИНЖЕНЕРНОЕ ЯДРО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5AB8"/>
                </a:solidFill>
                <a:latin typeface="Raleway"/>
              </a:rPr>
              <a:t>Детерминированное связывание с учётом согласий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R1  </a:t>
            </a:r>
            <a:r>
              <a:rPr sz="1200" b="1">
                <a:solidFill>
                  <a:srgbClr val="002864"/>
                </a:solidFill>
                <a:latin typeface="Inter Medium"/>
              </a:rPr>
              <a:t>Подтверждённый аккаунт Госуслуги / ЕБС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→ жёсткая связка записей — единый пассажир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95728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R2  </a:t>
            </a:r>
            <a:r>
              <a:rPr sz="1200" b="1">
                <a:solidFill>
                  <a:srgbClr val="002864"/>
                </a:solidFill>
                <a:latin typeface="Inter Medium"/>
              </a:rPr>
              <a:t>Телефон + документ в билете совпадают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→ связка билетного контура и приложения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28416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447BB"/>
                </a:solidFill>
                <a:latin typeface="Inter Medium"/>
              </a:rPr>
              <a:t>R3  </a:t>
            </a:r>
            <a:r>
              <a:rPr sz="1200" b="1">
                <a:solidFill>
                  <a:srgbClr val="002864"/>
                </a:solidFill>
                <a:latin typeface="Inter Medium"/>
              </a:rPr>
              <a:t>Email + платёжный токен совпадают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→ кандидат на связку — требует подтверждения входом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61104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CAB94"/>
                </a:solidFill>
                <a:latin typeface="Inter Medium"/>
              </a:rPr>
              <a:t>R4  </a:t>
            </a:r>
            <a:r>
              <a:rPr sz="1200" b="1">
                <a:solidFill>
                  <a:srgbClr val="002864"/>
                </a:solidFill>
                <a:latin typeface="Inter Medium"/>
              </a:rPr>
              <a:t>Согласие на цель отсутствует или отозвано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→ профиль не собирается — только обезличенные агрегаты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63040"/>
            <a:ext cx="3959352" cy="278892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002864"/>
                </a:solidFill>
                <a:latin typeface="Inter Medium"/>
              </a:rPr>
              <a:t>Приватность по 152-ФЗ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• согласия фиксируются по целям обработки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• минимизация: хэширование идентификаторов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• обезличивание для аналитики и синтетики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• право на отзыв — каскадное отключение связок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Inter"/>
              </a:rPr>
              <a:t>Fellegi–Sunter (JASA, 1969); Christen (2012)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434840"/>
            <a:ext cx="3959352" cy="77724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Inter Medium"/>
              </a:rPr>
              <a:t>Consent-aware связывание — методологический элемент новизны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Правила проверяемы и воспроизводимы: набор тест-кейсов «two records → один пассажир?» вместо обучаемой модели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9 · МНОГОМЕРНАЯ СЕГМЕНТАЦИЯ · АНАЛИТИЧЕСКАЯ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Четыре оси профиля, классические методы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Транзакционная (RFM)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давность, частота, сумма поездок и покупок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46304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447BB"/>
                </a:solidFill>
                <a:latin typeface="Inter Medium"/>
              </a:rPr>
              <a:t>Поведенческая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каналы, время покупки, отклики на предложения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46304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CAB94"/>
                </a:solidFill>
                <a:latin typeface="Inter Medium"/>
              </a:rPr>
              <a:t>Мультимодальная мобильность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смежный транспорт, пересадки, первая/последняя миля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1704" y="1463040"/>
            <a:ext cx="26700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2864"/>
                </a:solidFill>
                <a:latin typeface="Inter Medium"/>
              </a:rPr>
              <a:t>Ценностная (LTV)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ценность периода, кросс-продажи, риск оттока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012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864"/>
                </a:solidFill>
                <a:latin typeface="Inter Medium"/>
              </a:rPr>
              <a:t>Конвейер сегментации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нормализация признаков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370332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k-means + иерархическая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1768" y="370332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выбор k: silhouette, elbow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370332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устойчивость: bootstrap, seeds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0616" y="370332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профилирование сегментов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Inter Medium"/>
              </a:rPr>
              <a:t>Научная новизна состоит не в алгоритме, а в расширении пространства признаков: </a:t>
            </a:r>
            <a:r>
              <a:rPr sz="1350" b="1">
                <a:solidFill>
                  <a:srgbClr val="C5DBFF"/>
                </a:solidFill>
                <a:latin typeface="Inter Medium"/>
              </a:rPr>
              <a:t>к классическим транзакционным признакам (RFM) добавляется ось мультимодальной мобильности, а её вклад подтверждается сравнением с базовой моделью (слайд 11)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10 · ДИЗАЙН ОЦЕНКИ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Как докажем: RFM-only против RFM + мобильность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128016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5B6B85"/>
                </a:solidFill>
                <a:latin typeface="Inter Medium"/>
              </a:rPr>
              <a:t>Бейзлайн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02864"/>
                </a:solidFill>
                <a:latin typeface="Raleway"/>
              </a:rPr>
              <a:t>RFM-only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классическая сегментация по давности, частоте, сумме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128016" rtlCol="0" anchor="t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AB8"/>
                </a:solidFill>
                <a:latin typeface="Inter Medium"/>
              </a:rPr>
              <a:t>Предлагаемая модель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B5AB8"/>
                </a:solidFill>
                <a:latin typeface="Raleway"/>
              </a:rPr>
              <a:t>RFM + мультимодальная мобильность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B364A"/>
                </a:solidFill>
                <a:latin typeface="Inter"/>
              </a:rPr>
              <a:t>те же методы, расширенное пространство признаков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864"/>
                </a:solidFill>
                <a:latin typeface="Inter Medium"/>
              </a:rPr>
              <a:t>Метрики сравнения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1363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447BB"/>
                </a:solidFill>
                <a:latin typeface="Inter Medium"/>
              </a:rPr>
              <a:t>Различимость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silhouette, Davies–Bouldin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391363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447BB"/>
                </a:solidFill>
                <a:latin typeface="Inter Medium"/>
              </a:rPr>
              <a:t>Устойчивость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bootstrap-ARI, разные k и seed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91363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447BB"/>
                </a:solidFill>
                <a:latin typeface="Inter Medium"/>
              </a:rPr>
              <a:t>Полезность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lift по принятию допуслуг в офлайн-симуляции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704" y="391363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447BB"/>
                </a:solidFill>
                <a:latin typeface="Inter Medium"/>
              </a:rPr>
              <a:t>Интерпретируемость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читаемость профилей сегментов экспертом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 Medium"/>
              </a:rPr>
              <a:t>Успех: модель с осью мобильности статистически устойчиво различимее бейзлайна и выделяет сегменты, невидимые в RFM-only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11 · ОТ СЕГМЕНТОВ К СЕРВИСУ · РЕКОМЕНДАТЕЛЬНАЯ НАДСТРОЙКА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5AB8"/>
                </a:solidFill>
                <a:latin typeface="Raleway"/>
              </a:rPr>
              <a:t>Сегмент → сервисная стратегия → класс действия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560320" cy="45720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 Medium"/>
              </a:rPr>
              <a:t>Сегмент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463040"/>
            <a:ext cx="2971800" cy="45720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 Medium"/>
              </a:rPr>
              <a:t>Профиль (оси)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00" cy="45720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 Medium"/>
              </a:rPr>
              <a:t>Сервисная стратегия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463040"/>
            <a:ext cx="1993392" cy="45720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 Medium"/>
              </a:rPr>
              <a:t>Класс действия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5603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Деловой регуляр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920240"/>
            <a:ext cx="2971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F↑ R↑, низкая ценовая чувствительность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20240"/>
            <a:ext cx="3657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приоритетная посадка, бизнес-зал, такси к прибытию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920240"/>
            <a:ext cx="19933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447BB"/>
                </a:solidFill>
                <a:latin typeface="Inter Medium"/>
              </a:rPr>
              <a:t>базовый + доп.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40"/>
            <a:ext cx="256032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Мультимодальный коммьютер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606040"/>
            <a:ext cx="297180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поезд + метро + аэроэкспресс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06040"/>
            <a:ext cx="365760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сквозной маршрут, парковка, MaaS-связка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606040"/>
            <a:ext cx="1993392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447BB"/>
                </a:solidFill>
                <a:latin typeface="Inter Medium"/>
              </a:rPr>
              <a:t>дополнительный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25603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Семейный с детьми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3291840"/>
            <a:ext cx="2971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сезонность, багаж, групповые билеты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40"/>
            <a:ext cx="3657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ЦСМ, сопровождение, места рядом, питание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3291840"/>
            <a:ext cx="19933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447BB"/>
                </a:solidFill>
                <a:latin typeface="Inter Medium"/>
              </a:rPr>
              <a:t>помощь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256032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Турист выходного дня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3977639"/>
            <a:ext cx="297180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M↑ редкие поездки, отклик на пакеты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77639"/>
            <a:ext cx="3657600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пакеты «билет + город», предложения в пути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3977639"/>
            <a:ext cx="1993392" cy="685800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447BB"/>
                </a:solidFill>
                <a:latin typeface="Inter Medium"/>
              </a:rPr>
              <a:t>дополнительный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25603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Новый / редкий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4663440"/>
            <a:ext cx="2971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история мала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663440"/>
            <a:ext cx="3657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B364A"/>
                </a:solidFill>
                <a:latin typeface="Inter"/>
              </a:rPr>
              <a:t>welcome-сценарий, информирование, без давления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4663440"/>
            <a:ext cx="19933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447BB"/>
                </a:solidFill>
                <a:latin typeface="Inter Medium"/>
              </a:rPr>
              <a:t>базовый / операц.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86400"/>
            <a:ext cx="11183112" cy="6400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2864"/>
                </a:solidFill>
                <a:latin typeface="Inter Medium"/>
              </a:rPr>
              <a:t>Колонка «класс действия» стыкует сегменты с сервисной моделью и правилами включения сервисных действий (слайды 15–17)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12 · ПЕРСОНАЛИЗАЦИЯ · РЕКОМЕНДАТЕЛЬНАЯ НАДСТРОЙКА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От сегментов к бесшовным рекомендациям</a:t>
            </a:r>
          </a:p>
        </p:txBody>
      </p:sp>
      <p:sp>
        <p:nvSpPr>
          <p:cNvPr id="5" name="Oval 4"/>
          <p:cNvSpPr/>
          <p:nvPr/>
        </p:nvSpPr>
        <p:spPr>
          <a:xfrm>
            <a:off x="1609344" y="1600200"/>
            <a:ext cx="457200" cy="4572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nter Medium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864"/>
                </a:solidFill>
                <a:latin typeface="Inter Medium"/>
              </a:rPr>
              <a:t>Сегмент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профиль, мобильность, ценность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2980944"/>
            <a:ext cx="182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462272" y="1600200"/>
            <a:ext cx="457200" cy="4572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nter Medium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24028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864"/>
                </a:solidFill>
                <a:latin typeface="Inter Medium"/>
              </a:rPr>
              <a:t>Контекст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этап поездки, время, класс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5896" y="2980944"/>
            <a:ext cx="182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1600200"/>
            <a:ext cx="457200" cy="4572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nter Medium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24028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864"/>
                </a:solidFill>
                <a:latin typeface="Inter Medium"/>
              </a:rPr>
              <a:t>Сервис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доступность и релевантность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2980944"/>
            <a:ext cx="182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10168128" y="1600200"/>
            <a:ext cx="457200" cy="4572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nter Medium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240280"/>
            <a:ext cx="267004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864"/>
                </a:solidFill>
                <a:latin typeface="Inter Medium"/>
              </a:rPr>
              <a:t>Реакция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2B364A"/>
                </a:solidFill>
                <a:latin typeface="Inter"/>
              </a:rPr>
              <a:t>принял, отказался, вернулся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 Medium"/>
              </a:rPr>
              <a:t>Рекомендация появляется, когда совпали профиль, этап поездки, доступность услуги и согласие пассажира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86400"/>
            <a:ext cx="11183112" cy="6858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Сегмент даёт модель пассажира, контекст и доступность проверяют правила цифрового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13 · ПРИМЕР-ПРОХОДКА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5AB8"/>
                </a:solidFill>
                <a:latin typeface="Raleway"/>
              </a:rPr>
              <a:t>Один пассажир: от сырых данных до рекомендации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1 · Данные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«Анна»: 12 поездок МСК—СПб за год, билеты + аэроэкспресс, заказы питания, приложение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508760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2 · Связывание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Госуслуги подтверждены (R1), телефон совпал с билетом (R2) → один профиль из 3 систем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1508760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3 · Оси профиля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R: недавняя · F: высокая · M: средняя · мобильность: аэроэкспресс + такси · LTV: растущий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91839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4 · Сегмент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«деловой мультимодальный регуляр» — k-means, устойчив на bootstrap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291839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5 · Правила сервиса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этап «прибытие» + право «допсервис» + согласие активно → класс: дополнительный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3291839"/>
            <a:ext cx="36393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6 · Действие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за 20 мин до прибытия — предложение такси к выходу; при задержке — операционное уведомление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 Medium"/>
              </a:rPr>
              <a:t>Анна отказалась от такси дважды → правило паузы: предложение не повторяется, реакция уходит в историю профиля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14 · ПУТЬ ПАССАЖИРА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5AB8"/>
                </a:solidFill>
                <a:latin typeface="Raleway"/>
              </a:rPr>
              <a:t>Пассажирский путь на ВСМ и цифровой ID поездки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До поездки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19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146304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Прибытие</a:t>
            </a:r>
          </a:p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на вокзал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9744" y="1719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146304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Вокзал</a:t>
            </a:r>
          </a:p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и посадка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719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146304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Поездка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719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B5AB8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0616" y="1463040"/>
            <a:ext cx="2048256" cy="868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Прибытие</a:t>
            </a:r>
          </a:p>
          <a:p>
            <a:pPr algn="ctr">
              <a:spcAft>
                <a:spcPts val="200"/>
              </a:spcAft>
            </a:pPr>
            <a:r>
              <a:rPr sz="1150" b="1">
                <a:solidFill>
                  <a:srgbClr val="002864"/>
                </a:solidFill>
                <a:latin typeface="Inter Medium"/>
              </a:rPr>
              <a:t>и маршрут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C5DBFF"/>
                </a:solidFill>
                <a:latin typeface="Inter Medium"/>
              </a:rPr>
              <a:t>Цифровой ID поездки ВСМ:  </a:t>
            </a:r>
            <a:r>
              <a:rPr sz="1350" b="1">
                <a:solidFill>
                  <a:srgbClr val="FFFFFF"/>
                </a:solidFill>
                <a:latin typeface="Inter Medium"/>
              </a:rPr>
              <a:t>билет · статус поездки · сервисные права · история действий · заказанные услуги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Базовый сервис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билет, статус, информирование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3657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Операционное действие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изменение, сбой, критическое уведомление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3657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Помощь и доступность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ЦСМ, сопровождение, багаж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3657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bIns="109728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AB8"/>
                </a:solidFill>
                <a:latin typeface="Inter Medium"/>
              </a:rPr>
              <a:t>Дополнительный сервис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питание, парковка, такси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40680"/>
            <a:ext cx="11183112" cy="73152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864"/>
                </a:solidFill>
                <a:latin typeface="Inter Medium"/>
              </a:rPr>
              <a:t>Цифровой ID связывает этап поездки, сервисные права и историю действий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15 · СЕРВИСНАЯ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Классы сервисных действий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85"/>
                </a:solidFill>
                <a:latin typeface="Inter"/>
              </a:rPr>
              <a:t>Класс сервиса задаётся сценарием и функцией действия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154680" cy="50292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 Medium"/>
              </a:rPr>
              <a:t>Класс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783080"/>
            <a:ext cx="3657600" cy="50292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 Medium"/>
              </a:rPr>
              <a:t>Когда включается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83080"/>
            <a:ext cx="4370832" cy="502920"/>
          </a:xfrm>
          <a:prstGeom prst="rect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 Medium"/>
              </a:rPr>
              <a:t>Примеры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154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864"/>
                </a:solidFill>
                <a:latin typeface="Inter Medium"/>
              </a:rPr>
              <a:t>Базовый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286000"/>
            <a:ext cx="36576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минимум этапа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286000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билет, статус, информирование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3154680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864"/>
                </a:solidFill>
                <a:latin typeface="Inter Medium"/>
              </a:rPr>
              <a:t>Операционный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090672"/>
            <a:ext cx="3657600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сбой или изменение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090672"/>
            <a:ext cx="4370832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уведомление, перенос, корректировка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95344"/>
            <a:ext cx="31546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864"/>
                </a:solidFill>
                <a:latin typeface="Inter Medium"/>
              </a:rPr>
              <a:t>Помощь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895344"/>
            <a:ext cx="36576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потребность пассажира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895344"/>
            <a:ext cx="437083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ЦСМ, сопровождение, багаж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00016"/>
            <a:ext cx="3154680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864"/>
                </a:solidFill>
                <a:latin typeface="Inter Medium"/>
              </a:rPr>
              <a:t>Дополнительный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700016"/>
            <a:ext cx="3657600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релевантность услуги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700016"/>
            <a:ext cx="4370832" cy="804672"/>
          </a:xfrm>
          <a:prstGeom prst="rect">
            <a:avLst/>
          </a:prstGeom>
          <a:solidFill>
            <a:srgbClr val="F3F7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64A"/>
                </a:solidFill>
                <a:latin typeface="Inter"/>
              </a:rPr>
              <a:t>питание, парковка, такси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87568"/>
            <a:ext cx="11183112" cy="68580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002864"/>
                </a:solidFill>
                <a:latin typeface="Inter Medium"/>
              </a:rPr>
              <a:t>Вход для правил: сегмент и профиль пассажира определяют релевантность дополнительного класса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16 · СЦЕНАРИЙ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5AB8"/>
                </a:solidFill>
                <a:latin typeface="Raleway"/>
              </a:rPr>
              <a:t>Sequence diagram: персонализированный сервис в поезде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Пассажир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848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Интерфейс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850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ID поездки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852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Профиль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854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Модель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856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Бортовой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сервис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85832" y="1325880"/>
            <a:ext cx="1316736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Inter Medium"/>
              </a:rPr>
              <a:t>История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744200" y="1783080"/>
            <a:ext cx="0" cy="448056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692908" y="2103120"/>
            <a:ext cx="100584" cy="155448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92908" y="5230368"/>
            <a:ext cx="100584" cy="1078992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3108" y="2395728"/>
            <a:ext cx="100584" cy="484631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3108" y="4096512"/>
            <a:ext cx="100584" cy="155447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3308" y="3474720"/>
            <a:ext cx="100584" cy="45720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3508" y="3794760"/>
            <a:ext cx="100584" cy="160020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3708" y="2084831"/>
            <a:ext cx="100584" cy="155448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3708" y="4498848"/>
            <a:ext cx="100584" cy="420623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693908" y="3182112"/>
            <a:ext cx="100584" cy="201168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693908" y="6126480"/>
            <a:ext cx="100584" cy="18288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2708" y="5486400"/>
            <a:ext cx="100584" cy="41148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 flipH="1">
            <a:off x="2743200" y="2148840"/>
            <a:ext cx="64008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42331" y="1956816"/>
            <a:ext cx="2002536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1. старт: поезд отправлен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0" y="2468880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54503" y="2276856"/>
            <a:ext cx="1777593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2. подтвердить поездку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743200" y="2788920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17012" y="2596896"/>
            <a:ext cx="1852574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3. место · класс · этап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2971800"/>
            <a:ext cx="9326880" cy="685800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94560" y="2962656"/>
            <a:ext cx="201168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alt: согласие / отказ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43200" y="3246120"/>
            <a:ext cx="80010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7451" y="3054096"/>
            <a:ext cx="2152497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4.1 отказ от персонализации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43200" y="3547872"/>
            <a:ext cx="32004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92093" y="3355848"/>
            <a:ext cx="1702612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4.2 запросить профиль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858768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29960" y="3666744"/>
            <a:ext cx="2227478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5. заказы · реакции · отказы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343400" y="4160520"/>
            <a:ext cx="32004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642408" y="3968496"/>
            <a:ext cx="2602382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6. маршрут · длительность · класс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315968"/>
            <a:ext cx="9326880" cy="576071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194560" y="4306824"/>
            <a:ext cx="201168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alt: доступность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43800" y="4572000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67574" y="4379976"/>
            <a:ext cx="1552651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7. проверить сервис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7543800" y="4828032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67574" y="4636008"/>
            <a:ext cx="1552651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8. доступные услуги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29200"/>
            <a:ext cx="11064240" cy="914400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5020056"/>
            <a:ext cx="301752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alt: реакция · пауза после похожего отказа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2743200" y="5303520"/>
            <a:ext cx="48006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04741" y="5111496"/>
            <a:ext cx="2077516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9. релевантное предложение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1143000" y="5559552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429207" y="5367528"/>
            <a:ext cx="1027785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10. показать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43000" y="5806440"/>
            <a:ext cx="16002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79322" y="5614416"/>
            <a:ext cx="1927555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11. принять / отказаться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743200" y="6199632"/>
            <a:ext cx="8001000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67374" y="6007608"/>
            <a:ext cx="1552651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12. история реакции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17 · СЦЕНАРИЙ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B5AB8"/>
                </a:solidFill>
                <a:latin typeface="Raleway"/>
              </a:rPr>
              <a:t>Sequence diagram: парковка как дополнительный сервис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Пассажир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87068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Приложение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27148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91256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ID поездки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31336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95444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Билеты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5524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9632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Оператор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парковки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39712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03820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Оплата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3900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08008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Доступ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48088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712196" y="132588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 Medium"/>
              </a:rPr>
              <a:t>История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352276" y="1783080"/>
            <a:ext cx="0" cy="4617720"/>
          </a:xfrm>
          <a:prstGeom prst="line">
            <a:avLst/>
          </a:prstGeom>
          <a:ln w="12700">
            <a:solidFill>
              <a:srgbClr val="C5DB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72668" y="2011680"/>
            <a:ext cx="100584" cy="109727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76856" y="2084831"/>
            <a:ext cx="100584" cy="886968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76856" y="3246120"/>
            <a:ext cx="100584" cy="64008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76856" y="4526280"/>
            <a:ext cx="100584" cy="1417319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85232" y="2359152"/>
            <a:ext cx="100584" cy="292607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81044" y="2633472"/>
            <a:ext cx="100584" cy="292608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781044" y="5394960"/>
            <a:ext cx="100584" cy="320039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89420" y="3246120"/>
            <a:ext cx="100584" cy="36576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2668" y="4480560"/>
            <a:ext cx="100584" cy="320039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93608" y="5166360"/>
            <a:ext cx="100584" cy="320039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97796" y="6172200"/>
            <a:ext cx="100584" cy="228600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301984" y="4901184"/>
            <a:ext cx="100584" cy="128015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301984" y="6327648"/>
            <a:ext cx="100584" cy="109728"/>
          </a:xfrm>
          <a:prstGeom prst="rect">
            <a:avLst/>
          </a:prstGeom>
          <a:solidFill>
            <a:srgbClr val="F3F7FF"/>
          </a:solidFill>
          <a:ln w="12700">
            <a:solidFill>
              <a:srgbClr val="1B5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822960" y="205740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3709" y="1865376"/>
            <a:ext cx="1402689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1. покупка билета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27148" y="2331720"/>
            <a:ext cx="3008376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67481" y="2139696"/>
            <a:ext cx="1327708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2. создать билет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831336" y="260604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57066" y="2414016"/>
            <a:ext cx="1252728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3. связать с ID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327148" y="288036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77897" y="2688336"/>
            <a:ext cx="1402689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4. ID подтверждён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035808"/>
            <a:ext cx="11109960" cy="1005840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" y="3026664"/>
            <a:ext cx="146304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opt: парковка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27148" y="3291840"/>
            <a:ext cx="4512564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919575" y="3099816"/>
            <a:ext cx="1327708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5. место и тариф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2327148" y="3566160"/>
            <a:ext cx="4512564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507181" y="3374136"/>
            <a:ext cx="2152497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6. доступность подтверждена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822960" y="384048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86180" y="3648456"/>
            <a:ext cx="1177747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7. предложение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160520"/>
            <a:ext cx="11109960" cy="850392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11480" y="4151376"/>
            <a:ext cx="228600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alt: принять / отказаться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2960" y="4553712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98651" y="4361688"/>
            <a:ext cx="952804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8.1 принять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475488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86180" y="4562856"/>
            <a:ext cx="1177747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8.2 отказаться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27148" y="4937760"/>
            <a:ext cx="902512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950915" y="4745736"/>
            <a:ext cx="1777593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8.2 отказ зафиксирован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327148" y="5193792"/>
            <a:ext cx="6016752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371746" y="5001768"/>
            <a:ext cx="1927555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9. бронирование и оплата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3831336" y="5431536"/>
            <a:ext cx="4512564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123840" y="5239512"/>
            <a:ext cx="1927555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10. сервисное право в ID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2327148" y="5650992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490368" y="5458968"/>
            <a:ext cx="1177747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11. QR / бронь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822960" y="5870448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11199" y="5678424"/>
            <a:ext cx="1327708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12. QR пассажиру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989320"/>
            <a:ext cx="11109960" cy="457200"/>
          </a:xfrm>
          <a:prstGeom prst="rect">
            <a:avLst/>
          </a:prstGeom>
          <a:noFill/>
          <a:ln w="11430">
            <a:solidFill>
              <a:srgbClr val="44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11480" y="5980176"/>
            <a:ext cx="1188720" cy="201168"/>
          </a:xfrm>
          <a:prstGeom prst="rect">
            <a:avLst/>
          </a:prstGeom>
          <a:solidFill>
            <a:srgbClr val="44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Inter Medium"/>
              </a:rPr>
              <a:t>alt: въезд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2960" y="6199632"/>
            <a:ext cx="902512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146804" y="6007608"/>
            <a:ext cx="2377440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13. QR / бронь: проверка права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848088" y="6400800"/>
            <a:ext cx="1504188" cy="0"/>
          </a:xfrm>
          <a:prstGeom prst="line">
            <a:avLst/>
          </a:prstGeom>
          <a:ln w="13970">
            <a:solidFill>
              <a:srgbClr val="002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161270" y="6208776"/>
            <a:ext cx="877824" cy="182880"/>
          </a:xfrm>
          <a:prstGeom prst="rect">
            <a:avLst/>
          </a:prstGeom>
          <a:solidFill>
            <a:srgbClr val="F3F7FF"/>
          </a:solidFill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2B364A"/>
                </a:solidFill>
                <a:latin typeface="Inter"/>
              </a:rPr>
              <a:t>14. статус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447BB"/>
                </a:solidFill>
                <a:latin typeface="Inter Medium"/>
              </a:rPr>
              <a:t>18 · ПЛАН РАБОТЫ И ВЕХИ ·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5AB8"/>
                </a:solidFill>
                <a:latin typeface="Raleway"/>
              </a:rPr>
              <a:t>От концепции к проверяемой модели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377440"/>
            <a:ext cx="10881360" cy="0"/>
          </a:xfrm>
          <a:prstGeom prst="line">
            <a:avLst/>
          </a:prstGeom>
          <a:ln w="31750">
            <a:solidFill>
              <a:srgbClr val="C5DB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17320" y="2276856"/>
            <a:ext cx="201168" cy="201168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Осень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инженерное ядро: архитектура профиля (UML), правила связывания, генератор синтетики</a:t>
            </a:r>
          </a:p>
        </p:txBody>
      </p:sp>
      <p:sp>
        <p:nvSpPr>
          <p:cNvPr id="9" name="Oval 8"/>
          <p:cNvSpPr/>
          <p:nvPr/>
        </p:nvSpPr>
        <p:spPr>
          <a:xfrm>
            <a:off x="3721608" y="2276856"/>
            <a:ext cx="201168" cy="201168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8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Зима 2026/27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6974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калибровка синтетики по открытым данным, сегментация по 4 осям</a:t>
            </a:r>
          </a:p>
        </p:txBody>
      </p:sp>
      <p:sp>
        <p:nvSpPr>
          <p:cNvPr id="12" name="Oval 11"/>
          <p:cNvSpPr/>
          <p:nvPr/>
        </p:nvSpPr>
        <p:spPr>
          <a:xfrm>
            <a:off x="6025896" y="2276856"/>
            <a:ext cx="201168" cy="201168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11496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Февраль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26974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эксперимент RFM-only vs RFM+мобильность, метрики, анализ чувствительности</a:t>
            </a:r>
          </a:p>
        </p:txBody>
      </p:sp>
      <p:sp>
        <p:nvSpPr>
          <p:cNvPr id="15" name="Oval 14"/>
          <p:cNvSpPr/>
          <p:nvPr/>
        </p:nvSpPr>
        <p:spPr>
          <a:xfrm>
            <a:off x="8330184" y="2276856"/>
            <a:ext cx="201168" cy="201168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5784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Март–апрель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4" y="26974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рекомендательная надстройка: таблица стратегий, сценарии с цифровым ID, статья</a:t>
            </a:r>
          </a:p>
        </p:txBody>
      </p:sp>
      <p:sp>
        <p:nvSpPr>
          <p:cNvPr id="18" name="Oval 17"/>
          <p:cNvSpPr/>
          <p:nvPr/>
        </p:nvSpPr>
        <p:spPr>
          <a:xfrm>
            <a:off x="10634472" y="2276856"/>
            <a:ext cx="201168" cy="201168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20072" y="18288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5AB8"/>
                </a:solidFill>
                <a:latin typeface="Inter Medium"/>
              </a:rPr>
              <a:t>Май–июнь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26974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5D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91440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B364A"/>
                </a:solidFill>
                <a:latin typeface="Inter"/>
              </a:rPr>
              <a:t>текст диссертации, предзащита и защита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Архитектура профиля (UML)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Inter"/>
              </a:rPr>
              <a:t>результат этапа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5848" y="480060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Воспроизводимый датасет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Inter"/>
              </a:rPr>
              <a:t>результат этапа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80060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Измеренный прирост качества сегментации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Inter"/>
              </a:rPr>
              <a:t>результат этапа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4" y="480060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2864"/>
                </a:solidFill>
                <a:latin typeface="Inter Medium"/>
              </a:rPr>
              <a:t>Матрица сегмент → стратегия → класс действия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B6B85"/>
                </a:solidFill>
                <a:latin typeface="Inter"/>
              </a:rPr>
              <a:t>результат этапа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4447BB"/>
                </a:solidFill>
                <a:latin typeface="Raleway"/>
              </a:rPr>
              <a:t>Предполагаемые темы диссертаций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AB8"/>
                </a:solidFill>
                <a:latin typeface="Inter Medium"/>
              </a:rPr>
              <a:t>Модель унифицированного клиентского профиля и многомерной сегментации пассажиров ВСМ для персонализации транспортных услуг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240280"/>
            <a:ext cx="685800" cy="6858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Inter Medium"/>
              </a:rPr>
              <a:t>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B364A"/>
                </a:solidFill>
                <a:latin typeface="Inter Medium"/>
              </a:rPr>
              <a:t>Ануфриев Семён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B364A"/>
                </a:solidFill>
                <a:latin typeface="Inter Medium"/>
              </a:rPr>
              <a:t>ПИН-171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Объект исследования: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3872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Процессы клиентского обслуживания и персонализации транспортных услуг пассажиров ВСМ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Предмет исследования: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6168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Архитектура унифицированного клиентского профиля, правила детерминированного связывания данных и методы многомерной сегментации пассажиров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Научная новизна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8464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Модель унифицированного профиля пассажира ВСМ, в которой пространство признаков сегментации расширено осью мультимодальной мобильности, а вклад оси подтверждается сравнением с базовой моделью (RFM). Модель может быть использована для проектирования клиентского контура ВСМ, сегментации пассажиров и персонализации сервисных сценариев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4447BB"/>
                </a:solidFill>
                <a:latin typeface="Raleway"/>
              </a:rPr>
              <a:t>Предполагаемые темы диссертаций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 err="1">
                <a:solidFill>
                  <a:srgbClr val="1B5AB8"/>
                </a:solidFill>
                <a:latin typeface="Inter Medium"/>
              </a:rPr>
              <a:t>Разработка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организационно-технологической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модели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бесшовного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обслуживания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пассажиров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на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вокзальных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комплексах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и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в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</a:t>
            </a:r>
            <a:r>
              <a:rPr sz="2000" b="1" dirty="0" err="1">
                <a:solidFill>
                  <a:srgbClr val="1B5AB8"/>
                </a:solidFill>
                <a:latin typeface="Inter Medium"/>
              </a:rPr>
              <a:t>поездах</a:t>
            </a:r>
            <a:r>
              <a:rPr sz="2000" b="1" dirty="0">
                <a:solidFill>
                  <a:srgbClr val="1B5AB8"/>
                </a:solidFill>
                <a:latin typeface="Inter Medium"/>
              </a:rPr>
              <a:t> ВСМ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240280"/>
            <a:ext cx="685800" cy="685800"/>
          </a:xfrm>
          <a:prstGeom prst="ellipse">
            <a:avLst/>
          </a:prstGeom>
          <a:solidFill>
            <a:srgbClr val="1B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Inter Medium"/>
              </a:rPr>
              <a:t>ЛД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B364A"/>
                </a:solidFill>
                <a:latin typeface="Inter Medium"/>
              </a:rPr>
              <a:t>Левашвили Даниэль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B364A"/>
                </a:solidFill>
                <a:latin typeface="Inter Medium"/>
              </a:rPr>
              <a:t>ПУИ-171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Объект исследования: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3872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Процессы обслуживания пассажиров на вокзальных комплексах и в поездах высокоскоростной магистрали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Предмет исследования: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6168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Организационно-технологическая модель бесшовного обслуживания: цифровой ID поездки, классы сервисных действий и правила их включения по этапам пассажирского пути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38344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5AB8"/>
                </a:solidFill>
                <a:latin typeface="Inter Medium"/>
              </a:rPr>
              <a:t>Научная новизна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22392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64A"/>
                </a:solidFill>
                <a:latin typeface="Inter"/>
              </a:rPr>
              <a:t>Сервисная модель, связывающая этап поездки, сервисные права и историю действий пассажира через цифровой ID; правила выбора сервисного действия в сценарии. Модель может быть использована для проектирования сервисных сценариев «вокзал — поезд — городской маршрут» и плана внедрения бесшовного обслуживания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5"/>
                </a:solidFill>
                <a:latin typeface="Inter"/>
              </a:rPr>
              <a:t>ВСМ Москва — Санкт-Петербург · концепция проектной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1B5AB8"/>
                </a:solidFill>
                <a:latin typeface="Inter Medium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2527</Words>
  <Application>Microsoft Macintosh PowerPoint</Application>
  <PresentationFormat>Широкоэкранный</PresentationFormat>
  <Paragraphs>436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Inter</vt:lpstr>
      <vt:lpstr>Inter Medium</vt:lpstr>
      <vt:lpstr>Raleway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Semyon Anufriev</cp:lastModifiedBy>
  <cp:revision>2</cp:revision>
  <dcterms:created xsi:type="dcterms:W3CDTF">2013-01-27T09:14:16Z</dcterms:created>
  <dcterms:modified xsi:type="dcterms:W3CDTF">2026-06-11T13:54:29Z</dcterms:modified>
  <cp:category/>
</cp:coreProperties>
</file>